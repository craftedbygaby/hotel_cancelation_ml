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291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0A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731520"/>
            <a:ext cx="2926080" cy="2926080"/>
          </a:xfrm>
          <a:prstGeom prst="ellipse">
            <a:avLst/>
          </a:prstGeom>
          <a:solidFill>
            <a:srgbClr val="4A1A8C">
              <a:alpha val="40000"/>
            </a:srgbClr>
          </a:solidFill>
          <a:ln w="12700">
            <a:solidFill>
              <a:srgbClr val="4A1A8C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9520" y="-274320"/>
            <a:ext cx="2011680" cy="2011680"/>
          </a:xfrm>
          <a:prstGeom prst="ellipse">
            <a:avLst/>
          </a:prstGeom>
          <a:solidFill>
            <a:srgbClr val="7C3AED">
              <a:alpha val="50000"/>
            </a:srgbClr>
          </a:solidFill>
          <a:ln w="12700">
            <a:solidFill>
              <a:srgbClr val="7C3AED">
                <a:alpha val="5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914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</a:rPr>
              <a:t>🏨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Booking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Predictor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40080" y="3337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Classification Project  ·  IronHack Data Analytics Bootcamp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840480"/>
            <a:ext cx="2926080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8404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Gabriela Cascione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77724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4A1A8C"/>
          </a:solidFill>
          <a:ln w="12700">
            <a:solidFill>
              <a:srgbClr val="4A1A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960120"/>
            <a:ext cx="2560320" cy="2926080"/>
          </a:xfrm>
          <a:prstGeom prst="rect">
            <a:avLst/>
          </a:prstGeom>
          <a:solidFill>
            <a:srgbClr val="1E0A3C"/>
          </a:solidFill>
          <a:ln w="12700">
            <a:solidFill>
              <a:srgbClr val="4A1A8C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18872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27432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bookings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cancelled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063240" y="960120"/>
            <a:ext cx="5760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63240" y="960120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💸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794760" y="10332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Loss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94760" y="13441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rooms can't be resold at short notice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063240" y="1920240"/>
            <a:ext cx="5760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063240" y="1920240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794760" y="19933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Chaos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794760" y="23042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Staffing, catering and room prep all wasted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063240" y="2880360"/>
            <a:ext cx="5760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063240" y="2880360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0" y="3017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794760" y="29535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794760" y="32644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cancellations before they happen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4069080"/>
            <a:ext cx="8595360" cy="365760"/>
          </a:xfrm>
          <a:prstGeom prst="rect">
            <a:avLst/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06908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Classification: Will this booking be cancelled?  (0 = No  /  1 = Yes)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77724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Selection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4A1A8C"/>
          </a:solidFill>
          <a:ln w="12700">
            <a:solidFill>
              <a:srgbClr val="4A1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123823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datasets evaluated — 1 selected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790446"/>
            <a:ext cx="8595360" cy="1051560"/>
          </a:xfrm>
          <a:prstGeom prst="rect">
            <a:avLst/>
          </a:prstGeom>
          <a:solidFill>
            <a:srgbClr val="1E0A3C"/>
          </a:solidFill>
          <a:ln w="12700">
            <a:solidFill>
              <a:srgbClr val="7C3AE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790446"/>
            <a:ext cx="64008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81886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Hotel Booking Demand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192782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— jessemostipak  ·  119,390 rows  ·  32 columns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44881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— Clean, well-documented, rich features, clear binary target variable (is_canceled)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979166"/>
            <a:ext cx="85953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3070606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Hotel Reservations Dataset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3381502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— ahsan81  ·  Similar structure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363753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selected — fewer features, less documentation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77724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4A1A8C"/>
          </a:solidFill>
          <a:ln w="12700">
            <a:solidFill>
              <a:srgbClr val="4A1A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914400"/>
            <a:ext cx="2651760" cy="1005840"/>
          </a:xfrm>
          <a:prstGeom prst="rect">
            <a:avLst/>
          </a:prstGeom>
          <a:solidFill>
            <a:srgbClr val="1E0A3C"/>
          </a:solidFill>
          <a:ln w="12700">
            <a:solidFill>
              <a:srgbClr val="4A1A8C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96012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119,390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74320" y="1554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Rows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914400"/>
            <a:ext cx="2651760" cy="1005840"/>
          </a:xfrm>
          <a:prstGeom prst="rect">
            <a:avLst/>
          </a:prstGeom>
          <a:solidFill>
            <a:srgbClr val="1E0A3C"/>
          </a:solidFill>
          <a:ln w="12700">
            <a:solidFill>
              <a:srgbClr val="4A1A8C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0" y="96012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86,914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200400" y="1554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Cleaning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914400"/>
            <a:ext cx="2651760" cy="1005840"/>
          </a:xfrm>
          <a:prstGeom prst="rect">
            <a:avLst/>
          </a:prstGeom>
          <a:solidFill>
            <a:srgbClr val="1E0A3C"/>
          </a:solidFill>
          <a:ln w="12700">
            <a:solidFill>
              <a:srgbClr val="4A1A8C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96012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126480" y="1554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Columns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2103120"/>
            <a:ext cx="475488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10312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41248" y="2103120"/>
            <a:ext cx="8001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78408" y="2148840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agent &amp; company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78408" y="2377440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90% null values — not usable for modelling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2761488"/>
            <a:ext cx="475488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276148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41248" y="2761488"/>
            <a:ext cx="8001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78408" y="2807208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nulls in children &amp; country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78408" y="3035808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number of affected rows — safe to remove entirely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3419856"/>
            <a:ext cx="475488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34198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41248" y="3419856"/>
            <a:ext cx="8001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78408" y="3465576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31,984 duplicate rows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78408" y="3694176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rows would skew model training and evaluation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4078224"/>
            <a:ext cx="475488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407822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41248" y="4078224"/>
            <a:ext cx="8001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78408" y="4123944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data leakage columns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78408" y="4352544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reservation_status, reservation_status_date, assigned_room_type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77724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Encoding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4A1A8C"/>
          </a:solidFill>
          <a:ln w="12700">
            <a:solidFill>
              <a:srgbClr val="4A1A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960120"/>
            <a:ext cx="4206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960120"/>
            <a:ext cx="64008" cy="1554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972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🌍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097280" y="10972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→ Continent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146304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170+ country codes grouped into 7 regions using pycountry_convert. Reduces noise, preserves geographic signal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4206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960120"/>
            <a:ext cx="64008" cy="1554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0972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📅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532120" y="10972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→ Number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532120" y="146304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arrival_date_month converted from string to 1–12. Enables tree models to learn seasonal patterns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651760"/>
            <a:ext cx="4206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651760"/>
            <a:ext cx="64008" cy="1554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7889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🔢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097280" y="2788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Encoding (not OHE)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31546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columns mapped to integers. Keeps feature count low and preserves interpretable feature importance scores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09160" y="2651760"/>
            <a:ext cx="4206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2651760"/>
            <a:ext cx="64008" cy="1554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27889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⚖️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2788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Normalisation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532120" y="31546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numerical features scaled to zero mean and unit variance — essential for distance-based models like KNN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77724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Comparison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4A1A8C"/>
          </a:solidFill>
          <a:ln w="12700">
            <a:solidFill>
              <a:srgbClr val="4A1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0467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classification models trained and evaluated  ·  Sorted by F1 Score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2834640" cy="36576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1430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43000"/>
            <a:ext cx="1371600" cy="36576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143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46320" y="1143000"/>
            <a:ext cx="1371600" cy="36576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143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0" y="1143000"/>
            <a:ext cx="1371600" cy="36576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143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863840" y="1143000"/>
            <a:ext cx="1097280" cy="36576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0" y="1143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1554480"/>
            <a:ext cx="283464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5544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91840" y="1554480"/>
            <a:ext cx="137160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554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0.8105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846320" y="1554480"/>
            <a:ext cx="137160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1554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0.7039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0" y="1554480"/>
            <a:ext cx="137160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1554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0.5455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863840" y="1554480"/>
            <a:ext cx="109728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0" y="155448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0.6146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1901952"/>
            <a:ext cx="283464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29" name="Text 27"/>
          <p:cNvSpPr/>
          <p:nvPr/>
        </p:nvSpPr>
        <p:spPr>
          <a:xfrm>
            <a:off x="274320" y="1901952"/>
            <a:ext cx="2834640" cy="329184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Trees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91840" y="1901952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190195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0.8119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846320" y="1901952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190195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0.7129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0" y="1901952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190195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0.5378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863840" y="1901952"/>
            <a:ext cx="109728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863840" y="190195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0.6131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74320" y="2249424"/>
            <a:ext cx="28346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2249424"/>
            <a:ext cx="2834640" cy="329184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291840" y="22494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2249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0.8155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846320" y="22494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46320" y="2249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0.7442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400800" y="22494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2249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0.5091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863840" y="2249424"/>
            <a:ext cx="10972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863840" y="224942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0.6046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274320" y="2596896"/>
            <a:ext cx="283464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" y="2596896"/>
            <a:ext cx="2834640" cy="329184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AdaBoost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291840" y="2596896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91840" y="259689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0.7996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846320" y="2596896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46320" y="259689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0.6754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6400800" y="2596896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400800" y="259689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0.5326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7863840" y="2596896"/>
            <a:ext cx="109728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863840" y="259689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0.5955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274320" y="2944368"/>
            <a:ext cx="28346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3291840" y="29443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91840" y="294436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0.8053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4846320" y="29443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46320" y="294436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0.7254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400800" y="29443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00800" y="294436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0.4784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7863840" y="2944368"/>
            <a:ext cx="10972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63840" y="2944368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0.5766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274320" y="3291840"/>
            <a:ext cx="283464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74320" y="3291840"/>
            <a:ext cx="2834640" cy="329184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3291840" y="3291840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291840" y="32918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0.7718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4846320" y="3291840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846320" y="32918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0.6035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6400800" y="3291840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400800" y="32918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0.5139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7863840" y="3291840"/>
            <a:ext cx="109728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863840" y="32918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0.5551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274320" y="3639312"/>
            <a:ext cx="28346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74320" y="36393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Bagging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3291840" y="36393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291840" y="363931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0.7995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4846320" y="36393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846320" y="363931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0.7221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6400800" y="36393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400800" y="363931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0.4489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7863840" y="3639312"/>
            <a:ext cx="10972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863840" y="363931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0.5536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274320" y="3986784"/>
            <a:ext cx="283464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74320" y="39867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3291840" y="3986784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291840" y="398678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0.7899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4846320" y="3986784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846320" y="398678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0.6946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6400800" y="3986784"/>
            <a:ext cx="137160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400800" y="398678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0.4313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7863840" y="3986784"/>
            <a:ext cx="1097280" cy="329184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7863840" y="398678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0.5322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274320" y="4334256"/>
            <a:ext cx="28346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74320" y="4334256"/>
            <a:ext cx="2834640" cy="329184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3291840" y="433425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291840" y="43342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0.7743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4846320" y="433425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846320" y="43342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0.6963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6400800" y="433425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400800" y="43342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0.3289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7863840" y="4334256"/>
            <a:ext cx="10972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863840" y="433425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0.4468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77724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4A1A8C"/>
          </a:solidFill>
          <a:ln w="12700">
            <a:solidFill>
              <a:srgbClr val="4A1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0467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importances from Gradient Boosting — features with importance &lt; 0.01 were dropped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1704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Predictors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1508760"/>
            <a:ext cx="2743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508760"/>
            <a:ext cx="64008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645920"/>
            <a:ext cx="411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🥇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22960" y="16733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lead_time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192938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20.3% importance score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466594"/>
            <a:ext cx="2743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466594"/>
            <a:ext cx="64008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603754"/>
            <a:ext cx="411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🥈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2960" y="263118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average_daily_rate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288721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14.5% importance score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3420364"/>
            <a:ext cx="2743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3420364"/>
            <a:ext cx="64008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3557524"/>
            <a:ext cx="411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🥉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35849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arrival_date_day_of_month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2960" y="384098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9.2% importance score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200400" y="117500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Features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200400" y="1513332"/>
            <a:ext cx="2743200" cy="2707640"/>
          </a:xfrm>
          <a:prstGeom prst="rect">
            <a:avLst/>
          </a:prstGeom>
          <a:solidFill>
            <a:srgbClr val="1E0A3C"/>
          </a:solidFill>
          <a:ln w="12700">
            <a:solidFill>
              <a:srgbClr val="4A1A8C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291840" y="15727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importance &lt; 0.01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37560" y="1924812"/>
            <a:ext cx="2468880" cy="274320"/>
          </a:xfrm>
          <a:prstGeom prst="rect">
            <a:avLst/>
          </a:prstGeom>
          <a:solidFill>
            <a:srgbClr val="4A1A8C">
              <a:alpha val="40000"/>
            </a:srgbClr>
          </a:solidFill>
          <a:ln w="12700">
            <a:solidFill>
              <a:srgbClr val="4A1A8C">
                <a:alpha val="4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29000" y="194310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66360" y="19431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337560" y="2263140"/>
            <a:ext cx="2468880" cy="274320"/>
          </a:xfrm>
          <a:prstGeom prst="rect">
            <a:avLst/>
          </a:prstGeom>
          <a:solidFill>
            <a:srgbClr val="4A1A8C">
              <a:alpha val="40000"/>
            </a:srgbClr>
          </a:solidFill>
          <a:ln w="12700">
            <a:solidFill>
              <a:srgbClr val="4A1A8C">
                <a:alpha val="4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29000" y="228142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distribution_channel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66360" y="22814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337560" y="2601468"/>
            <a:ext cx="2468880" cy="274320"/>
          </a:xfrm>
          <a:prstGeom prst="rect">
            <a:avLst/>
          </a:prstGeom>
          <a:solidFill>
            <a:srgbClr val="4A1A8C">
              <a:alpha val="40000"/>
            </a:srgbClr>
          </a:solidFill>
          <a:ln w="12700">
            <a:solidFill>
              <a:srgbClr val="4A1A8C">
                <a:alpha val="4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29000" y="26197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prev_bookings_not_canceled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166360" y="261975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337560" y="2939796"/>
            <a:ext cx="2468880" cy="274320"/>
          </a:xfrm>
          <a:prstGeom prst="rect">
            <a:avLst/>
          </a:prstGeom>
          <a:solidFill>
            <a:srgbClr val="4A1A8C">
              <a:alpha val="40000"/>
            </a:srgbClr>
          </a:solidFill>
          <a:ln w="12700">
            <a:solidFill>
              <a:srgbClr val="4A1A8C">
                <a:alpha val="4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29000" y="295808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babies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166360" y="29580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337560" y="3278124"/>
            <a:ext cx="2468880" cy="274320"/>
          </a:xfrm>
          <a:prstGeom prst="rect">
            <a:avLst/>
          </a:prstGeom>
          <a:solidFill>
            <a:srgbClr val="4A1A8C">
              <a:alpha val="40000"/>
            </a:srgbClr>
          </a:solidFill>
          <a:ln w="12700">
            <a:solidFill>
              <a:srgbClr val="4A1A8C">
                <a:alpha val="40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29000" y="329641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is_repeated_guest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166360" y="32964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337560" y="3616452"/>
            <a:ext cx="2468880" cy="274320"/>
          </a:xfrm>
          <a:prstGeom prst="rect">
            <a:avLst/>
          </a:prstGeom>
          <a:solidFill>
            <a:srgbClr val="4A1A8C">
              <a:alpha val="40000"/>
            </a:srgbClr>
          </a:solidFill>
          <a:ln w="12700">
            <a:solidFill>
              <a:srgbClr val="4A1A8C">
                <a:alpha val="40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29000" y="363474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days_in_waiting_list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166360" y="36347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126480" y="116484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 After Reduction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126480" y="1503172"/>
            <a:ext cx="1005840" cy="347472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26480" y="150317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178040" y="1503172"/>
            <a:ext cx="914400" cy="347472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178040" y="1503172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138160" y="1503172"/>
            <a:ext cx="777240" cy="347472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138160" y="1503172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126480" y="1896364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26480" y="1896364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178040" y="1896364"/>
            <a:ext cx="9144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040" y="1896364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0.8113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138160" y="1896364"/>
            <a:ext cx="7772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38160" y="1896364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0.616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126480" y="2307844"/>
            <a:ext cx="1005840" cy="384048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26480" y="2307844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178040" y="2307844"/>
            <a:ext cx="914400" cy="384048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178040" y="2307844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0.8102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138160" y="2307844"/>
            <a:ext cx="777240" cy="384048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38160" y="2307844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0.614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126480" y="2829052"/>
            <a:ext cx="2788920" cy="475488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126480" y="2829052"/>
            <a:ext cx="2788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improvement → kept full feature set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126480" y="3423412"/>
            <a:ext cx="27889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217920" y="348742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dropping 6 low-importance features, model was retrained. Accuracy and F1 both dropped slightly — confirming the original full feature set was optimal.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77724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4A1A8C"/>
          </a:solidFill>
          <a:ln w="12700">
            <a:solidFill>
              <a:srgbClr val="4A1A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914400"/>
            <a:ext cx="8595360" cy="777240"/>
          </a:xfrm>
          <a:prstGeom prst="rect">
            <a:avLst/>
          </a:prstGeom>
          <a:solidFill>
            <a:srgbClr val="1E0A3C"/>
          </a:solidFill>
          <a:ln w="12700">
            <a:solidFill>
              <a:srgbClr val="4A1A8C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91440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RandomizedSearchCV  ·  GradientBoostingClassifier  ·  cv=5  ·  n_iter=10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4320" y="1755648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RandomizedSearch over GridSearch? Full grid would take too long — RandomizedSearch tries 10 random combinations, balancing speed and coverage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286000"/>
            <a:ext cx="53035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2286000"/>
            <a:ext cx="64008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3500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91840" y="235000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[100, 250, 500]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260604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boosting stages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971800"/>
            <a:ext cx="53035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971800"/>
            <a:ext cx="64008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0358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91840" y="303580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[5, 10, 20]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329184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depth of individual trees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657600"/>
            <a:ext cx="53035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3657600"/>
            <a:ext cx="64008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7216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max_leaf_nodes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91840" y="372160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[100, 250, 500]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" y="397764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leaf nodes per tree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852160" y="2286000"/>
            <a:ext cx="2926080" cy="192024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89320" y="2286000"/>
            <a:ext cx="27432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TO DO — Add best score and best params after run completes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777240"/>
          </a:xfrm>
          <a:prstGeom prst="rect">
            <a:avLst/>
          </a:prstGeom>
          <a:solidFill>
            <a:srgbClr val="1E0A3C"/>
          </a:solidFill>
          <a:ln w="12700">
            <a:solidFill>
              <a:srgbClr val="1E0A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Next Steps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4A1A8C"/>
          </a:solidFill>
          <a:ln w="12700">
            <a:solidFill>
              <a:srgbClr val="4A1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144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42062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353312"/>
            <a:ext cx="64008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490472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🔀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14173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misalignment after encoding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1700784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index mismatch caused NaN rows after encoding — fixed by resetting index inside the encoding function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267712"/>
            <a:ext cx="42062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267712"/>
            <a:ext cx="64008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404872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14400" y="23317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values in test set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615184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→ Continent conversion had gaps — resolved by checking all unique values on the full dataset before splitting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182112"/>
            <a:ext cx="42062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182112"/>
            <a:ext cx="64008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319272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⏱️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14400" y="32461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training times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3529584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cells took significant time to run, limiting the number of iterations and experiments possible within the week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754880" y="1353312"/>
            <a:ext cx="4114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1353312"/>
            <a:ext cx="64008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1490472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⚖️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394960" y="141732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Class Imbalance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94960" y="1700784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72/28 imbalance (not cancelled/cancelled) identified but not addressed due to time. Next: verify best method and apply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2267712"/>
            <a:ext cx="4114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54880" y="2267712"/>
            <a:ext cx="64008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2404872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394960" y="233172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Hyperparameter Search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394960" y="2615184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RandomizedSearchCV was used for speed. A full GridSearchCV on more combinations could improve results further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54880" y="3182112"/>
            <a:ext cx="4114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54880" y="3182112"/>
            <a:ext cx="64008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3319272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5394960" y="324612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LightGBM / CatBoost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394960" y="3529584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powerful gradient boosting variants not explored this week. Likely to push accuracy above 81%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0A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4A1A8C">
              <a:alpha val="35000"/>
            </a:srgbClr>
          </a:solidFill>
          <a:ln w="12700">
            <a:solidFill>
              <a:srgbClr val="4A1A8C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560320"/>
            <a:ext cx="3200400" cy="3200400"/>
          </a:xfrm>
          <a:prstGeom prst="ellipse">
            <a:avLst/>
          </a:prstGeom>
          <a:solidFill>
            <a:srgbClr val="7C3AED">
              <a:alpha val="30000"/>
            </a:srgbClr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548640"/>
            <a:ext cx="1097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dirty="0">
                <a:solidFill>
                  <a:srgbClr val="000000"/>
                </a:solidFill>
              </a:rPr>
              <a:t>🏨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Booking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Predictor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14400" y="288036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[XX]% accuracy  ·  9 models trained  ·  Gradient Boosting wins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17520" y="3401568"/>
            <a:ext cx="3108960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27000" dist="38100" dir="8100000" algn="bl" rotWithShape="0">
              <a:srgbClr val="1E0A3C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017520" y="3401568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Gabriela Cascione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IronHack Data Analytics Bootcamp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251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—  Questions welcome!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780</Words>
  <Application>Microsoft Office PowerPoint</Application>
  <PresentationFormat>Apresentação na tela (16:9)</PresentationFormat>
  <Paragraphs>200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Gabriela Silva Cascione</cp:lastModifiedBy>
  <cp:revision>11</cp:revision>
  <dcterms:created xsi:type="dcterms:W3CDTF">2026-05-14T15:00:34Z</dcterms:created>
  <dcterms:modified xsi:type="dcterms:W3CDTF">2026-05-14T15:37:37Z</dcterms:modified>
</cp:coreProperties>
</file>