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0" d="100"/>
          <a:sy n="150" d="100"/>
        </p:scale>
        <p:origin x="47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529160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0A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-731520"/>
            <a:ext cx="2926080" cy="2926080"/>
          </a:xfrm>
          <a:prstGeom prst="ellipse">
            <a:avLst/>
          </a:prstGeom>
          <a:solidFill>
            <a:srgbClr val="4A1A8C">
              <a:alpha val="40000"/>
            </a:srgbClr>
          </a:solidFill>
          <a:ln w="12700">
            <a:solidFill>
              <a:srgbClr val="4A1A8C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589520" y="-274320"/>
            <a:ext cx="2011680" cy="2011680"/>
          </a:xfrm>
          <a:prstGeom prst="ellipse">
            <a:avLst/>
          </a:prstGeom>
          <a:solidFill>
            <a:srgbClr val="7C3AED">
              <a:alpha val="50000"/>
            </a:srgbClr>
          </a:solidFill>
          <a:ln w="12700">
            <a:solidFill>
              <a:srgbClr val="7C3AED">
                <a:alpha val="5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91440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dirty="0">
                <a:solidFill>
                  <a:srgbClr val="000000"/>
                </a:solidFill>
              </a:rPr>
              <a:t>🏨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640080" y="187452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Hotel Booking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640080" y="251460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Cancellation Predictor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640080" y="333756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Classification Project  ·  IronHack Data Analytics Bootcamp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3840480"/>
            <a:ext cx="2926080" cy="5943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blurRad="127000" dist="38100" dir="8100000" algn="bl" rotWithShape="0">
              <a:srgbClr val="1E0A3C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0080" y="3840480"/>
            <a:ext cx="2926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Gabriela Cascione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3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777240"/>
          </a:xfrm>
          <a:prstGeom prst="rect">
            <a:avLst/>
          </a:prstGeom>
          <a:solidFill>
            <a:srgbClr val="1E0A3C"/>
          </a:solidFill>
          <a:ln w="12700">
            <a:solidFill>
              <a:srgbClr val="1E0A3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0" y="5033772"/>
            <a:ext cx="9144000" cy="109728"/>
          </a:xfrm>
          <a:prstGeom prst="rect">
            <a:avLst/>
          </a:prstGeom>
          <a:solidFill>
            <a:srgbClr val="4A1A8C"/>
          </a:solidFill>
          <a:ln w="12700">
            <a:solidFill>
              <a:srgbClr val="4A1A8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960120"/>
            <a:ext cx="2560320" cy="2926080"/>
          </a:xfrm>
          <a:prstGeom prst="rect">
            <a:avLst/>
          </a:prstGeom>
          <a:solidFill>
            <a:srgbClr val="1E0A3C"/>
          </a:solidFill>
          <a:ln w="12700">
            <a:solidFill>
              <a:srgbClr val="4A1A8C"/>
            </a:solidFill>
            <a:prstDash val="solid"/>
          </a:ln>
          <a:effectLst>
            <a:outerShdw blurRad="127000" dist="38100" dir="8100000" algn="bl" rotWithShape="0">
              <a:srgbClr val="1E0A3C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74320" y="1188720"/>
            <a:ext cx="2560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28%</a:t>
            </a:r>
            <a:endParaRPr lang="en-US" sz="5600" dirty="0"/>
          </a:p>
        </p:txBody>
      </p:sp>
      <p:sp>
        <p:nvSpPr>
          <p:cNvPr id="8" name="Text 6"/>
          <p:cNvSpPr/>
          <p:nvPr/>
        </p:nvSpPr>
        <p:spPr>
          <a:xfrm>
            <a:off x="274320" y="219456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bookings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cancelled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063240" y="960120"/>
            <a:ext cx="57607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4B5FD"/>
            </a:solidFill>
            <a:prstDash val="solid"/>
          </a:ln>
          <a:effectLst>
            <a:outerShdw blurRad="127000" dist="38100" dir="8100000" algn="bl" rotWithShape="0">
              <a:srgbClr val="1E0A3C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063240" y="960120"/>
            <a:ext cx="64008" cy="8229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0" y="10972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💸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794760" y="103327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Loss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794760" y="1344168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Empty rooms can't be resold at short notice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063240" y="1920240"/>
            <a:ext cx="57607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4B5FD"/>
            </a:solidFill>
            <a:prstDash val="solid"/>
          </a:ln>
          <a:effectLst>
            <a:outerShdw blurRad="127000" dist="38100" dir="8100000" algn="bl" rotWithShape="0">
              <a:srgbClr val="1E0A3C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063240" y="1920240"/>
            <a:ext cx="64008" cy="8229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0" y="20574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📋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794760" y="199339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Chaos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794760" y="2304288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Staffing, catering and room prep all wasted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063240" y="2880360"/>
            <a:ext cx="57607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4B5FD"/>
            </a:solidFill>
            <a:prstDash val="solid"/>
          </a:ln>
          <a:effectLst>
            <a:outerShdw blurRad="127000" dist="38100" dir="8100000" algn="bl" rotWithShape="0">
              <a:srgbClr val="1E0A3C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063240" y="2880360"/>
            <a:ext cx="64008" cy="8229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0" y="30175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🎯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3794760" y="295351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Goal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794760" y="3264408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cancellations before they happen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274320" y="4069080"/>
            <a:ext cx="8595360" cy="365760"/>
          </a:xfrm>
          <a:prstGeom prst="rect">
            <a:avLst/>
          </a:prstGeom>
          <a:solidFill>
            <a:srgbClr val="EDE9FE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4320" y="406908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Classification: Will this booking be cancelled?  (0 = No  /  1 = Yes)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3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777240"/>
          </a:xfrm>
          <a:prstGeom prst="rect">
            <a:avLst/>
          </a:prstGeom>
          <a:solidFill>
            <a:srgbClr val="1E0A3C"/>
          </a:solidFill>
          <a:ln w="12700">
            <a:solidFill>
              <a:srgbClr val="1E0A3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Selection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0" y="5033772"/>
            <a:ext cx="9144000" cy="109728"/>
          </a:xfrm>
          <a:prstGeom prst="rect">
            <a:avLst/>
          </a:prstGeom>
          <a:solidFill>
            <a:srgbClr val="4A1A8C"/>
          </a:solidFill>
          <a:ln w="12700">
            <a:solidFill>
              <a:srgbClr val="4A1A8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123823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datasets evaluated — 1 selected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1790446"/>
            <a:ext cx="8595360" cy="1051560"/>
          </a:xfrm>
          <a:prstGeom prst="rect">
            <a:avLst/>
          </a:prstGeom>
          <a:solidFill>
            <a:srgbClr val="1E0A3C"/>
          </a:solidFill>
          <a:ln w="12700">
            <a:solidFill>
              <a:srgbClr val="7C3AED"/>
            </a:solidFill>
            <a:prstDash val="solid"/>
          </a:ln>
          <a:effectLst>
            <a:outerShdw blurRad="127000" dist="38100" dir="8100000" algn="bl" rotWithShape="0">
              <a:srgbClr val="1E0A3C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790446"/>
            <a:ext cx="64008" cy="10515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881886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Hotel Booking Demand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02920" y="2192782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 — jessemostipak  ·  119,390 rows  ·  32 columns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2448814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CHOSEN — Clean, well-documented, rich features, clear binary target variable (is_canceled)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2979166"/>
            <a:ext cx="859536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4B5FD"/>
            </a:solidFill>
            <a:prstDash val="solid"/>
          </a:ln>
          <a:effectLst>
            <a:outerShdw blurRad="127000" dist="38100" dir="8100000" algn="bl" rotWithShape="0">
              <a:srgbClr val="1E0A3C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02920" y="3070606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Hotel Reservations Dataset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02920" y="3381502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 — ahsan81  ·  Similar structure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2920" y="3637534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selected — fewer features, less documentation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3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777240"/>
          </a:xfrm>
          <a:prstGeom prst="rect">
            <a:avLst/>
          </a:prstGeom>
          <a:solidFill>
            <a:srgbClr val="1E0A3C"/>
          </a:solidFill>
          <a:ln w="12700">
            <a:solidFill>
              <a:srgbClr val="1E0A3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0" y="5033772"/>
            <a:ext cx="9144000" cy="109728"/>
          </a:xfrm>
          <a:prstGeom prst="rect">
            <a:avLst/>
          </a:prstGeom>
          <a:solidFill>
            <a:srgbClr val="4A1A8C"/>
          </a:solidFill>
          <a:ln w="12700">
            <a:solidFill>
              <a:srgbClr val="4A1A8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914400"/>
            <a:ext cx="2651760" cy="1005840"/>
          </a:xfrm>
          <a:prstGeom prst="rect">
            <a:avLst/>
          </a:prstGeom>
          <a:solidFill>
            <a:srgbClr val="1E0A3C"/>
          </a:solidFill>
          <a:ln w="12700">
            <a:solidFill>
              <a:srgbClr val="4A1A8C"/>
            </a:solidFill>
            <a:prstDash val="solid"/>
          </a:ln>
          <a:effectLst>
            <a:outerShdw blurRad="127000" dist="38100" dir="8100000" algn="bl" rotWithShape="0">
              <a:srgbClr val="1E0A3C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74320" y="960120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119,390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274320" y="155448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Rows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00400" y="914400"/>
            <a:ext cx="2651760" cy="1005840"/>
          </a:xfrm>
          <a:prstGeom prst="rect">
            <a:avLst/>
          </a:prstGeom>
          <a:solidFill>
            <a:srgbClr val="1E0A3C"/>
          </a:solidFill>
          <a:ln w="12700">
            <a:solidFill>
              <a:srgbClr val="4A1A8C"/>
            </a:solidFill>
            <a:prstDash val="solid"/>
          </a:ln>
          <a:effectLst>
            <a:outerShdw blurRad="127000" dist="38100" dir="8100000" algn="bl" rotWithShape="0">
              <a:srgbClr val="1E0A3C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00400" y="960120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86,914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3200400" y="155448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Cleaning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26480" y="914400"/>
            <a:ext cx="2651760" cy="1005840"/>
          </a:xfrm>
          <a:prstGeom prst="rect">
            <a:avLst/>
          </a:prstGeom>
          <a:solidFill>
            <a:srgbClr val="1E0A3C"/>
          </a:solidFill>
          <a:ln w="12700">
            <a:solidFill>
              <a:srgbClr val="4A1A8C"/>
            </a:solidFill>
            <a:prstDash val="solid"/>
          </a:ln>
          <a:effectLst>
            <a:outerShdw blurRad="127000" dist="38100" dir="8100000" algn="bl" rotWithShape="0">
              <a:srgbClr val="1E0A3C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126480" y="960120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6126480" y="155448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Columns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74320" y="2103120"/>
            <a:ext cx="475488" cy="47548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210312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41248" y="2103120"/>
            <a:ext cx="80010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4B5FD"/>
            </a:solidFill>
            <a:prstDash val="solid"/>
          </a:ln>
          <a:effectLst>
            <a:outerShdw blurRad="127000" dist="38100" dir="8100000" algn="bl" rotWithShape="0">
              <a:srgbClr val="1E0A3C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78408" y="2148840"/>
            <a:ext cx="7680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Dropped agent &amp; company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78408" y="2377440"/>
            <a:ext cx="7680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90% null values — not usable for modelling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74320" y="2761488"/>
            <a:ext cx="475488" cy="47548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2761488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841248" y="2761488"/>
            <a:ext cx="80010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4B5FD"/>
            </a:solidFill>
            <a:prstDash val="solid"/>
          </a:ln>
          <a:effectLst>
            <a:outerShdw blurRad="127000" dist="38100" dir="8100000" algn="bl" rotWithShape="0">
              <a:srgbClr val="1E0A3C">
                <a:alpha val="1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978408" y="2807208"/>
            <a:ext cx="7680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Dropped nulls in children &amp; country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78408" y="3035808"/>
            <a:ext cx="7680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number of affected rows — safe to remove entirely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74320" y="3419856"/>
            <a:ext cx="475488" cy="47548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3419856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841248" y="3419856"/>
            <a:ext cx="80010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4B5FD"/>
            </a:solidFill>
            <a:prstDash val="solid"/>
          </a:ln>
          <a:effectLst>
            <a:outerShdw blurRad="127000" dist="38100" dir="8100000" algn="bl" rotWithShape="0">
              <a:srgbClr val="1E0A3C">
                <a:alpha val="1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978408" y="3465576"/>
            <a:ext cx="7680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Removed 31,984 duplicate rows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978408" y="3694176"/>
            <a:ext cx="7680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Identical rows would skew model training and evaluation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74320" y="4078224"/>
            <a:ext cx="475488" cy="47548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4320" y="4078224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841248" y="4078224"/>
            <a:ext cx="80010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4B5FD"/>
            </a:solidFill>
            <a:prstDash val="solid"/>
          </a:ln>
          <a:effectLst>
            <a:outerShdw blurRad="127000" dist="38100" dir="8100000" algn="bl" rotWithShape="0">
              <a:srgbClr val="1E0A3C">
                <a:alpha val="18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978408" y="4123944"/>
            <a:ext cx="7680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Dropped data leakage columns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978408" y="4352544"/>
            <a:ext cx="7680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reservation_status, reservation_status_date, assigned_room_type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3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777240"/>
          </a:xfrm>
          <a:prstGeom prst="rect">
            <a:avLst/>
          </a:prstGeom>
          <a:solidFill>
            <a:srgbClr val="1E0A3C"/>
          </a:solidFill>
          <a:ln w="12700">
            <a:solidFill>
              <a:srgbClr val="1E0A3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 &amp; Encoding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0" y="5033772"/>
            <a:ext cx="9144000" cy="109728"/>
          </a:xfrm>
          <a:prstGeom prst="rect">
            <a:avLst/>
          </a:prstGeom>
          <a:solidFill>
            <a:srgbClr val="4A1A8C"/>
          </a:solidFill>
          <a:ln w="12700">
            <a:solidFill>
              <a:srgbClr val="4A1A8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960120"/>
            <a:ext cx="42062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4B5FD"/>
            </a:solidFill>
            <a:prstDash val="solid"/>
          </a:ln>
          <a:effectLst>
            <a:outerShdw blurRad="127000" dist="38100" dir="8100000" algn="bl" rotWithShape="0">
              <a:srgbClr val="1E0A3C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960120"/>
            <a:ext cx="64008" cy="15544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0972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🌍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1097280" y="109728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 → Continent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97280" y="1463040"/>
            <a:ext cx="3246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170+ country codes grouped into 7 regions using pycountry_convert. Reduces noise, preserves geographic signal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09160" y="960120"/>
            <a:ext cx="42062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4B5FD"/>
            </a:solidFill>
            <a:prstDash val="solid"/>
          </a:ln>
          <a:effectLst>
            <a:outerShdw blurRad="127000" dist="38100" dir="8100000" algn="bl" rotWithShape="0">
              <a:srgbClr val="1E0A3C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09160" y="960120"/>
            <a:ext cx="64008" cy="15544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92040" y="10972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📅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5532120" y="109728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→ Number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532120" y="1463040"/>
            <a:ext cx="3246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arrival_date_month converted from string to 1–12. Enables tree models to learn seasonal patterns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2651760"/>
            <a:ext cx="42062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4B5FD"/>
            </a:solidFill>
            <a:prstDash val="solid"/>
          </a:ln>
          <a:effectLst>
            <a:outerShdw blurRad="127000" dist="38100" dir="8100000" algn="bl" rotWithShape="0">
              <a:srgbClr val="1E0A3C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2651760"/>
            <a:ext cx="64008" cy="15544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278892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🔢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1097280" y="278892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Encoding (not OHE)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097280" y="3154680"/>
            <a:ext cx="3246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Categorical columns mapped to integers. Keeps feature count low and preserves interpretable feature importance scores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709160" y="2651760"/>
            <a:ext cx="42062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4B5FD"/>
            </a:solidFill>
            <a:prstDash val="solid"/>
          </a:ln>
          <a:effectLst>
            <a:outerShdw blurRad="127000" dist="38100" dir="8100000" algn="bl" rotWithShape="0">
              <a:srgbClr val="1E0A3C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09160" y="2651760"/>
            <a:ext cx="64008" cy="15544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92040" y="278892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⚖️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5532120" y="278892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StandardScaler Normalisation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532120" y="3154680"/>
            <a:ext cx="3246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numerical features scaled to zero mean and unit variance — essential for distance-based models like KNN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3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777240"/>
          </a:xfrm>
          <a:prstGeom prst="rect">
            <a:avLst/>
          </a:prstGeom>
          <a:solidFill>
            <a:srgbClr val="1E0A3C"/>
          </a:solidFill>
          <a:ln w="12700">
            <a:solidFill>
              <a:srgbClr val="1E0A3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Comparison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0" y="5033772"/>
            <a:ext cx="9144000" cy="109728"/>
          </a:xfrm>
          <a:prstGeom prst="rect">
            <a:avLst/>
          </a:prstGeom>
          <a:solidFill>
            <a:srgbClr val="4A1A8C"/>
          </a:solidFill>
          <a:ln w="12700">
            <a:solidFill>
              <a:srgbClr val="4A1A8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804672"/>
            <a:ext cx="8595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classification models trained and evaluated  ·  Sorted by F1 Score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1143000"/>
            <a:ext cx="2834640" cy="365760"/>
          </a:xfrm>
          <a:prstGeom prst="rect">
            <a:avLst/>
          </a:prstGeom>
          <a:solidFill>
            <a:srgbClr val="1E0A3C"/>
          </a:solidFill>
          <a:ln w="12700">
            <a:solidFill>
              <a:srgbClr val="1E0A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143000"/>
            <a:ext cx="2834640" cy="365760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91840" y="1143000"/>
            <a:ext cx="1371600" cy="365760"/>
          </a:xfrm>
          <a:prstGeom prst="rect">
            <a:avLst/>
          </a:prstGeom>
          <a:solidFill>
            <a:srgbClr val="1E0A3C"/>
          </a:solidFill>
          <a:ln w="12700">
            <a:solidFill>
              <a:srgbClr val="1E0A3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91840" y="11430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846320" y="1143000"/>
            <a:ext cx="1371600" cy="365760"/>
          </a:xfrm>
          <a:prstGeom prst="rect">
            <a:avLst/>
          </a:prstGeom>
          <a:solidFill>
            <a:srgbClr val="1E0A3C"/>
          </a:solidFill>
          <a:ln w="12700">
            <a:solidFill>
              <a:srgbClr val="1E0A3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11430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00800" y="1143000"/>
            <a:ext cx="1371600" cy="365760"/>
          </a:xfrm>
          <a:prstGeom prst="rect">
            <a:avLst/>
          </a:prstGeom>
          <a:solidFill>
            <a:srgbClr val="1E0A3C"/>
          </a:solidFill>
          <a:ln w="12700">
            <a:solidFill>
              <a:srgbClr val="1E0A3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0" y="11430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863840" y="1143000"/>
            <a:ext cx="1097280" cy="365760"/>
          </a:xfrm>
          <a:prstGeom prst="rect">
            <a:avLst/>
          </a:prstGeom>
          <a:solidFill>
            <a:srgbClr val="1E0A3C"/>
          </a:solidFill>
          <a:ln w="12700">
            <a:solidFill>
              <a:srgbClr val="1E0A3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863840" y="114300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Score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74320" y="1554480"/>
            <a:ext cx="2834640" cy="329184"/>
          </a:xfrm>
          <a:prstGeom prst="rect">
            <a:avLst/>
          </a:prstGeom>
          <a:solidFill>
            <a:srgbClr val="7C3AE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1554480"/>
            <a:ext cx="2834640" cy="329184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291840" y="1554480"/>
            <a:ext cx="1371600" cy="329184"/>
          </a:xfrm>
          <a:prstGeom prst="rect">
            <a:avLst/>
          </a:prstGeom>
          <a:solidFill>
            <a:srgbClr val="7C3AE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91840" y="155448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0.8105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846320" y="1554480"/>
            <a:ext cx="1371600" cy="329184"/>
          </a:xfrm>
          <a:prstGeom prst="rect">
            <a:avLst/>
          </a:prstGeom>
          <a:solidFill>
            <a:srgbClr val="7C3AE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46320" y="155448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0.7039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400800" y="1554480"/>
            <a:ext cx="1371600" cy="329184"/>
          </a:xfrm>
          <a:prstGeom prst="rect">
            <a:avLst/>
          </a:prstGeom>
          <a:solidFill>
            <a:srgbClr val="7C3AE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0" y="155448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0.5455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7863840" y="1554480"/>
            <a:ext cx="1097280" cy="329184"/>
          </a:xfrm>
          <a:prstGeom prst="rect">
            <a:avLst/>
          </a:prstGeom>
          <a:solidFill>
            <a:srgbClr val="7C3AE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863840" y="1554480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0.6146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274320" y="1901952"/>
            <a:ext cx="2834640" cy="329184"/>
          </a:xfrm>
          <a:prstGeom prst="rect">
            <a:avLst/>
          </a:prstGeom>
          <a:solidFill>
            <a:srgbClr val="F5F3FF"/>
          </a:solidFill>
          <a:ln w="12700">
            <a:solidFill>
              <a:srgbClr val="C4B5FD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29" name="Text 27"/>
          <p:cNvSpPr/>
          <p:nvPr/>
        </p:nvSpPr>
        <p:spPr>
          <a:xfrm>
            <a:off x="274320" y="1901952"/>
            <a:ext cx="2834640" cy="329184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 Trees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291840" y="1901952"/>
            <a:ext cx="1371600" cy="329184"/>
          </a:xfrm>
          <a:prstGeom prst="rect">
            <a:avLst/>
          </a:prstGeom>
          <a:solidFill>
            <a:srgbClr val="F5F3FF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91840" y="1901952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0.8119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846320" y="1901952"/>
            <a:ext cx="1371600" cy="329184"/>
          </a:xfrm>
          <a:prstGeom prst="rect">
            <a:avLst/>
          </a:prstGeom>
          <a:solidFill>
            <a:srgbClr val="F5F3FF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46320" y="1901952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0.7129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400800" y="1901952"/>
            <a:ext cx="1371600" cy="329184"/>
          </a:xfrm>
          <a:prstGeom prst="rect">
            <a:avLst/>
          </a:prstGeom>
          <a:solidFill>
            <a:srgbClr val="F5F3FF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00800" y="1901952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0.5378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7863840" y="1901952"/>
            <a:ext cx="1097280" cy="329184"/>
          </a:xfrm>
          <a:prstGeom prst="rect">
            <a:avLst/>
          </a:prstGeom>
          <a:solidFill>
            <a:srgbClr val="F5F3FF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863840" y="1901952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0.6131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274320" y="2249424"/>
            <a:ext cx="283464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74320" y="2249424"/>
            <a:ext cx="2834640" cy="329184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3291840" y="2249424"/>
            <a:ext cx="1371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291840" y="2249424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0.8155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4846320" y="2249424"/>
            <a:ext cx="1371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46320" y="2249424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0.7442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6400800" y="2249424"/>
            <a:ext cx="1371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400800" y="2249424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0.5091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7863840" y="2249424"/>
            <a:ext cx="109728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863840" y="2249424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0.6046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274320" y="2596896"/>
            <a:ext cx="2834640" cy="329184"/>
          </a:xfrm>
          <a:prstGeom prst="rect">
            <a:avLst/>
          </a:prstGeom>
          <a:solidFill>
            <a:srgbClr val="F5F3FF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74320" y="2596896"/>
            <a:ext cx="2834640" cy="329184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AdaBoost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3291840" y="2596896"/>
            <a:ext cx="1371600" cy="329184"/>
          </a:xfrm>
          <a:prstGeom prst="rect">
            <a:avLst/>
          </a:prstGeom>
          <a:solidFill>
            <a:srgbClr val="F5F3FF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291840" y="2596896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0.7996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4846320" y="2596896"/>
            <a:ext cx="1371600" cy="329184"/>
          </a:xfrm>
          <a:prstGeom prst="rect">
            <a:avLst/>
          </a:prstGeom>
          <a:solidFill>
            <a:srgbClr val="F5F3FF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846320" y="2596896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0.6754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6400800" y="2596896"/>
            <a:ext cx="1371600" cy="329184"/>
          </a:xfrm>
          <a:prstGeom prst="rect">
            <a:avLst/>
          </a:prstGeom>
          <a:solidFill>
            <a:srgbClr val="F5F3FF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400800" y="2596896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0.5326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7863840" y="2596896"/>
            <a:ext cx="1097280" cy="329184"/>
          </a:xfrm>
          <a:prstGeom prst="rect">
            <a:avLst/>
          </a:prstGeom>
          <a:solidFill>
            <a:srgbClr val="F5F3FF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863840" y="2596896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0.5955</a:t>
            </a:r>
            <a:endParaRPr lang="en-US" sz="1050" dirty="0"/>
          </a:p>
        </p:txBody>
      </p:sp>
      <p:sp>
        <p:nvSpPr>
          <p:cNvPr id="58" name="Shape 56"/>
          <p:cNvSpPr/>
          <p:nvPr/>
        </p:nvSpPr>
        <p:spPr>
          <a:xfrm>
            <a:off x="274320" y="2944368"/>
            <a:ext cx="283464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274320" y="2944368"/>
            <a:ext cx="2834640" cy="329184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3291840" y="2944368"/>
            <a:ext cx="1371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3291840" y="2944368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0.8053</a:t>
            </a:r>
            <a:endParaRPr lang="en-US" sz="1050" dirty="0"/>
          </a:p>
        </p:txBody>
      </p:sp>
      <p:sp>
        <p:nvSpPr>
          <p:cNvPr id="62" name="Shape 60"/>
          <p:cNvSpPr/>
          <p:nvPr/>
        </p:nvSpPr>
        <p:spPr>
          <a:xfrm>
            <a:off x="4846320" y="2944368"/>
            <a:ext cx="1371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4846320" y="2944368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0.7254</a:t>
            </a:r>
            <a:endParaRPr lang="en-US" sz="1050" dirty="0"/>
          </a:p>
        </p:txBody>
      </p:sp>
      <p:sp>
        <p:nvSpPr>
          <p:cNvPr id="64" name="Shape 62"/>
          <p:cNvSpPr/>
          <p:nvPr/>
        </p:nvSpPr>
        <p:spPr>
          <a:xfrm>
            <a:off x="6400800" y="2944368"/>
            <a:ext cx="1371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400800" y="2944368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0.4784</a:t>
            </a:r>
            <a:endParaRPr lang="en-US" sz="1050" dirty="0"/>
          </a:p>
        </p:txBody>
      </p:sp>
      <p:sp>
        <p:nvSpPr>
          <p:cNvPr id="66" name="Shape 64"/>
          <p:cNvSpPr/>
          <p:nvPr/>
        </p:nvSpPr>
        <p:spPr>
          <a:xfrm>
            <a:off x="7863840" y="2944368"/>
            <a:ext cx="109728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7863840" y="2944368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0.5766</a:t>
            </a:r>
            <a:endParaRPr lang="en-US" sz="1050" dirty="0"/>
          </a:p>
        </p:txBody>
      </p:sp>
      <p:sp>
        <p:nvSpPr>
          <p:cNvPr id="68" name="Shape 66"/>
          <p:cNvSpPr/>
          <p:nvPr/>
        </p:nvSpPr>
        <p:spPr>
          <a:xfrm>
            <a:off x="274320" y="3291840"/>
            <a:ext cx="2834640" cy="329184"/>
          </a:xfrm>
          <a:prstGeom prst="rect">
            <a:avLst/>
          </a:prstGeom>
          <a:solidFill>
            <a:srgbClr val="F5F3FF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274320" y="3291840"/>
            <a:ext cx="2834640" cy="329184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</a:t>
            </a:r>
            <a:endParaRPr lang="en-US" sz="1100" dirty="0"/>
          </a:p>
        </p:txBody>
      </p:sp>
      <p:sp>
        <p:nvSpPr>
          <p:cNvPr id="70" name="Shape 68"/>
          <p:cNvSpPr/>
          <p:nvPr/>
        </p:nvSpPr>
        <p:spPr>
          <a:xfrm>
            <a:off x="3291840" y="3291840"/>
            <a:ext cx="1371600" cy="329184"/>
          </a:xfrm>
          <a:prstGeom prst="rect">
            <a:avLst/>
          </a:prstGeom>
          <a:solidFill>
            <a:srgbClr val="F5F3FF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3291840" y="329184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0.7718</a:t>
            </a:r>
            <a:endParaRPr lang="en-US" sz="1050" dirty="0"/>
          </a:p>
        </p:txBody>
      </p:sp>
      <p:sp>
        <p:nvSpPr>
          <p:cNvPr id="72" name="Shape 70"/>
          <p:cNvSpPr/>
          <p:nvPr/>
        </p:nvSpPr>
        <p:spPr>
          <a:xfrm>
            <a:off x="4846320" y="3291840"/>
            <a:ext cx="1371600" cy="329184"/>
          </a:xfrm>
          <a:prstGeom prst="rect">
            <a:avLst/>
          </a:prstGeom>
          <a:solidFill>
            <a:srgbClr val="F5F3FF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4846320" y="329184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0.6035</a:t>
            </a:r>
            <a:endParaRPr lang="en-US" sz="1050" dirty="0"/>
          </a:p>
        </p:txBody>
      </p:sp>
      <p:sp>
        <p:nvSpPr>
          <p:cNvPr id="74" name="Shape 72"/>
          <p:cNvSpPr/>
          <p:nvPr/>
        </p:nvSpPr>
        <p:spPr>
          <a:xfrm>
            <a:off x="6400800" y="3291840"/>
            <a:ext cx="1371600" cy="329184"/>
          </a:xfrm>
          <a:prstGeom prst="rect">
            <a:avLst/>
          </a:prstGeom>
          <a:solidFill>
            <a:srgbClr val="F5F3FF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6400800" y="329184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0.5139</a:t>
            </a:r>
            <a:endParaRPr lang="en-US" sz="1050" dirty="0"/>
          </a:p>
        </p:txBody>
      </p:sp>
      <p:sp>
        <p:nvSpPr>
          <p:cNvPr id="76" name="Shape 74"/>
          <p:cNvSpPr/>
          <p:nvPr/>
        </p:nvSpPr>
        <p:spPr>
          <a:xfrm>
            <a:off x="7863840" y="3291840"/>
            <a:ext cx="1097280" cy="329184"/>
          </a:xfrm>
          <a:prstGeom prst="rect">
            <a:avLst/>
          </a:prstGeom>
          <a:solidFill>
            <a:srgbClr val="F5F3FF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7863840" y="3291840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0.5551</a:t>
            </a:r>
            <a:endParaRPr lang="en-US" sz="1050" dirty="0"/>
          </a:p>
        </p:txBody>
      </p:sp>
      <p:sp>
        <p:nvSpPr>
          <p:cNvPr id="78" name="Shape 76"/>
          <p:cNvSpPr/>
          <p:nvPr/>
        </p:nvSpPr>
        <p:spPr>
          <a:xfrm>
            <a:off x="274320" y="3639312"/>
            <a:ext cx="283464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274320" y="3639312"/>
            <a:ext cx="2834640" cy="329184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Bagging</a:t>
            </a:r>
            <a:endParaRPr lang="en-US" sz="1100" dirty="0"/>
          </a:p>
        </p:txBody>
      </p:sp>
      <p:sp>
        <p:nvSpPr>
          <p:cNvPr id="80" name="Shape 78"/>
          <p:cNvSpPr/>
          <p:nvPr/>
        </p:nvSpPr>
        <p:spPr>
          <a:xfrm>
            <a:off x="3291840" y="3639312"/>
            <a:ext cx="1371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3291840" y="3639312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0.7995</a:t>
            </a:r>
            <a:endParaRPr lang="en-US" sz="1050" dirty="0"/>
          </a:p>
        </p:txBody>
      </p:sp>
      <p:sp>
        <p:nvSpPr>
          <p:cNvPr id="82" name="Shape 80"/>
          <p:cNvSpPr/>
          <p:nvPr/>
        </p:nvSpPr>
        <p:spPr>
          <a:xfrm>
            <a:off x="4846320" y="3639312"/>
            <a:ext cx="1371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4846320" y="3639312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0.7221</a:t>
            </a:r>
            <a:endParaRPr lang="en-US" sz="1050" dirty="0"/>
          </a:p>
        </p:txBody>
      </p:sp>
      <p:sp>
        <p:nvSpPr>
          <p:cNvPr id="84" name="Shape 82"/>
          <p:cNvSpPr/>
          <p:nvPr/>
        </p:nvSpPr>
        <p:spPr>
          <a:xfrm>
            <a:off x="6400800" y="3639312"/>
            <a:ext cx="1371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6400800" y="3639312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0.4489</a:t>
            </a:r>
            <a:endParaRPr lang="en-US" sz="1050" dirty="0"/>
          </a:p>
        </p:txBody>
      </p:sp>
      <p:sp>
        <p:nvSpPr>
          <p:cNvPr id="86" name="Shape 84"/>
          <p:cNvSpPr/>
          <p:nvPr/>
        </p:nvSpPr>
        <p:spPr>
          <a:xfrm>
            <a:off x="7863840" y="3639312"/>
            <a:ext cx="109728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7863840" y="3639312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0.5536</a:t>
            </a:r>
            <a:endParaRPr lang="en-US" sz="1050" dirty="0"/>
          </a:p>
        </p:txBody>
      </p:sp>
      <p:sp>
        <p:nvSpPr>
          <p:cNvPr id="88" name="Shape 86"/>
          <p:cNvSpPr/>
          <p:nvPr/>
        </p:nvSpPr>
        <p:spPr>
          <a:xfrm>
            <a:off x="274320" y="3986784"/>
            <a:ext cx="2834640" cy="329184"/>
          </a:xfrm>
          <a:prstGeom prst="rect">
            <a:avLst/>
          </a:prstGeom>
          <a:solidFill>
            <a:srgbClr val="F5F3FF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274320" y="3986784"/>
            <a:ext cx="2834640" cy="329184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KNN</a:t>
            </a:r>
            <a:endParaRPr lang="en-US" sz="1100" dirty="0"/>
          </a:p>
        </p:txBody>
      </p:sp>
      <p:sp>
        <p:nvSpPr>
          <p:cNvPr id="90" name="Shape 88"/>
          <p:cNvSpPr/>
          <p:nvPr/>
        </p:nvSpPr>
        <p:spPr>
          <a:xfrm>
            <a:off x="3291840" y="3986784"/>
            <a:ext cx="1371600" cy="329184"/>
          </a:xfrm>
          <a:prstGeom prst="rect">
            <a:avLst/>
          </a:prstGeom>
          <a:solidFill>
            <a:srgbClr val="F5F3FF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3291840" y="3986784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0.7899</a:t>
            </a:r>
            <a:endParaRPr lang="en-US" sz="1050" dirty="0"/>
          </a:p>
        </p:txBody>
      </p:sp>
      <p:sp>
        <p:nvSpPr>
          <p:cNvPr id="92" name="Shape 90"/>
          <p:cNvSpPr/>
          <p:nvPr/>
        </p:nvSpPr>
        <p:spPr>
          <a:xfrm>
            <a:off x="4846320" y="3986784"/>
            <a:ext cx="1371600" cy="329184"/>
          </a:xfrm>
          <a:prstGeom prst="rect">
            <a:avLst/>
          </a:prstGeom>
          <a:solidFill>
            <a:srgbClr val="F5F3FF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4846320" y="3986784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0.6946</a:t>
            </a:r>
            <a:endParaRPr lang="en-US" sz="1050" dirty="0"/>
          </a:p>
        </p:txBody>
      </p:sp>
      <p:sp>
        <p:nvSpPr>
          <p:cNvPr id="94" name="Shape 92"/>
          <p:cNvSpPr/>
          <p:nvPr/>
        </p:nvSpPr>
        <p:spPr>
          <a:xfrm>
            <a:off x="6400800" y="3986784"/>
            <a:ext cx="1371600" cy="329184"/>
          </a:xfrm>
          <a:prstGeom prst="rect">
            <a:avLst/>
          </a:prstGeom>
          <a:solidFill>
            <a:srgbClr val="F5F3FF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6400800" y="3986784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0.4313</a:t>
            </a:r>
            <a:endParaRPr lang="en-US" sz="1050" dirty="0"/>
          </a:p>
        </p:txBody>
      </p:sp>
      <p:sp>
        <p:nvSpPr>
          <p:cNvPr id="96" name="Shape 94"/>
          <p:cNvSpPr/>
          <p:nvPr/>
        </p:nvSpPr>
        <p:spPr>
          <a:xfrm>
            <a:off x="7863840" y="3986784"/>
            <a:ext cx="1097280" cy="329184"/>
          </a:xfrm>
          <a:prstGeom prst="rect">
            <a:avLst/>
          </a:prstGeom>
          <a:solidFill>
            <a:srgbClr val="F5F3FF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7863840" y="3986784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0.5322</a:t>
            </a:r>
            <a:endParaRPr lang="en-US" sz="1050" dirty="0"/>
          </a:p>
        </p:txBody>
      </p:sp>
      <p:sp>
        <p:nvSpPr>
          <p:cNvPr id="98" name="Shape 96"/>
          <p:cNvSpPr/>
          <p:nvPr/>
        </p:nvSpPr>
        <p:spPr>
          <a:xfrm>
            <a:off x="274320" y="4334256"/>
            <a:ext cx="283464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274320" y="4334256"/>
            <a:ext cx="2834640" cy="329184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1100" dirty="0"/>
          </a:p>
        </p:txBody>
      </p:sp>
      <p:sp>
        <p:nvSpPr>
          <p:cNvPr id="100" name="Shape 98"/>
          <p:cNvSpPr/>
          <p:nvPr/>
        </p:nvSpPr>
        <p:spPr>
          <a:xfrm>
            <a:off x="3291840" y="4334256"/>
            <a:ext cx="1371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3291840" y="4334256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0.7743</a:t>
            </a:r>
            <a:endParaRPr lang="en-US" sz="1050" dirty="0"/>
          </a:p>
        </p:txBody>
      </p:sp>
      <p:sp>
        <p:nvSpPr>
          <p:cNvPr id="102" name="Shape 100"/>
          <p:cNvSpPr/>
          <p:nvPr/>
        </p:nvSpPr>
        <p:spPr>
          <a:xfrm>
            <a:off x="4846320" y="4334256"/>
            <a:ext cx="1371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4846320" y="4334256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0.6963</a:t>
            </a:r>
            <a:endParaRPr lang="en-US" sz="1050" dirty="0"/>
          </a:p>
        </p:txBody>
      </p:sp>
      <p:sp>
        <p:nvSpPr>
          <p:cNvPr id="104" name="Shape 102"/>
          <p:cNvSpPr/>
          <p:nvPr/>
        </p:nvSpPr>
        <p:spPr>
          <a:xfrm>
            <a:off x="6400800" y="4334256"/>
            <a:ext cx="1371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6400800" y="4334256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0.3289</a:t>
            </a:r>
            <a:endParaRPr lang="en-US" sz="1050" dirty="0"/>
          </a:p>
        </p:txBody>
      </p:sp>
      <p:sp>
        <p:nvSpPr>
          <p:cNvPr id="106" name="Shape 104"/>
          <p:cNvSpPr/>
          <p:nvPr/>
        </p:nvSpPr>
        <p:spPr>
          <a:xfrm>
            <a:off x="7863840" y="4334256"/>
            <a:ext cx="109728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7863840" y="4334256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0.4468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3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777240"/>
          </a:xfrm>
          <a:prstGeom prst="rect">
            <a:avLst/>
          </a:prstGeom>
          <a:solidFill>
            <a:srgbClr val="1E0A3C"/>
          </a:solidFill>
          <a:ln w="12700">
            <a:solidFill>
              <a:srgbClr val="1E0A3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Selection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0" y="5033772"/>
            <a:ext cx="9144000" cy="109728"/>
          </a:xfrm>
          <a:prstGeom prst="rect">
            <a:avLst/>
          </a:prstGeom>
          <a:solidFill>
            <a:srgbClr val="4A1A8C"/>
          </a:solidFill>
          <a:ln w="12700">
            <a:solidFill>
              <a:srgbClr val="4A1A8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804672"/>
            <a:ext cx="8595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importances from Gradient Boosting — features with importance &lt; 0.01 were dropped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74320" y="117043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3 Predictors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74320" y="1508760"/>
            <a:ext cx="27432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C4B5FD"/>
            </a:solidFill>
            <a:prstDash val="solid"/>
          </a:ln>
          <a:effectLst>
            <a:outerShdw blurRad="127000" dist="38100" dir="8100000" algn="bl" rotWithShape="0">
              <a:srgbClr val="1E0A3C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1508760"/>
            <a:ext cx="64008" cy="8046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645920"/>
            <a:ext cx="411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🥇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822960" y="167335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lead_time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22960" y="1929384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20.3% importance score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74320" y="2466594"/>
            <a:ext cx="27432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C4B5FD"/>
            </a:solidFill>
            <a:prstDash val="solid"/>
          </a:ln>
          <a:effectLst>
            <a:outerShdw blurRad="127000" dist="38100" dir="8100000" algn="bl" rotWithShape="0">
              <a:srgbClr val="1E0A3C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2466594"/>
            <a:ext cx="64008" cy="8046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603754"/>
            <a:ext cx="411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🥈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822960" y="263118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average_daily_rate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22960" y="2887218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14.5% importance score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74320" y="3420364"/>
            <a:ext cx="27432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C4B5FD"/>
            </a:solidFill>
            <a:prstDash val="solid"/>
          </a:ln>
          <a:effectLst>
            <a:outerShdw blurRad="127000" dist="38100" dir="8100000" algn="bl" rotWithShape="0">
              <a:srgbClr val="1E0A3C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" y="3420364"/>
            <a:ext cx="64008" cy="8046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3557524"/>
            <a:ext cx="411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🥉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822960" y="358495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arrival_date_day_of_month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22960" y="3840988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9.2% importance score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3200400" y="1175004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Dropped Features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3200400" y="1513332"/>
            <a:ext cx="2743200" cy="2707640"/>
          </a:xfrm>
          <a:prstGeom prst="rect">
            <a:avLst/>
          </a:prstGeom>
          <a:solidFill>
            <a:srgbClr val="1E0A3C"/>
          </a:solidFill>
          <a:ln w="12700">
            <a:solidFill>
              <a:srgbClr val="4A1A8C"/>
            </a:solidFill>
            <a:prstDash val="solid"/>
          </a:ln>
          <a:effectLst>
            <a:outerShdw blurRad="127000" dist="38100" dir="8100000" algn="bl" rotWithShape="0">
              <a:srgbClr val="1E0A3C">
                <a:alpha val="1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291840" y="157276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importance &lt; 0.01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337560" y="1924812"/>
            <a:ext cx="2468880" cy="274320"/>
          </a:xfrm>
          <a:prstGeom prst="rect">
            <a:avLst/>
          </a:prstGeom>
          <a:solidFill>
            <a:srgbClr val="4A1A8C">
              <a:alpha val="40000"/>
            </a:srgbClr>
          </a:solidFill>
          <a:ln w="12700">
            <a:solidFill>
              <a:srgbClr val="4A1A8C">
                <a:alpha val="40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429000" y="1943100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children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166360" y="1943100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0.009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337560" y="2263140"/>
            <a:ext cx="2468880" cy="274320"/>
          </a:xfrm>
          <a:prstGeom prst="rect">
            <a:avLst/>
          </a:prstGeom>
          <a:solidFill>
            <a:srgbClr val="4A1A8C">
              <a:alpha val="40000"/>
            </a:srgbClr>
          </a:solidFill>
          <a:ln w="12700">
            <a:solidFill>
              <a:srgbClr val="4A1A8C">
                <a:alpha val="40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429000" y="2281428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distribution_channel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166360" y="2281428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0.007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337560" y="2601468"/>
            <a:ext cx="2468880" cy="274320"/>
          </a:xfrm>
          <a:prstGeom prst="rect">
            <a:avLst/>
          </a:prstGeom>
          <a:solidFill>
            <a:srgbClr val="4A1A8C">
              <a:alpha val="40000"/>
            </a:srgbClr>
          </a:solidFill>
          <a:ln w="12700">
            <a:solidFill>
              <a:srgbClr val="4A1A8C">
                <a:alpha val="40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429000" y="2619756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prev_bookings_not_canceled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166360" y="261975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0.007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3337560" y="2939796"/>
            <a:ext cx="2468880" cy="274320"/>
          </a:xfrm>
          <a:prstGeom prst="rect">
            <a:avLst/>
          </a:prstGeom>
          <a:solidFill>
            <a:srgbClr val="4A1A8C">
              <a:alpha val="40000"/>
            </a:srgbClr>
          </a:solidFill>
          <a:ln w="12700">
            <a:solidFill>
              <a:srgbClr val="4A1A8C">
                <a:alpha val="4000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429000" y="2958084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babies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166360" y="2958084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0.002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3337560" y="3278124"/>
            <a:ext cx="2468880" cy="274320"/>
          </a:xfrm>
          <a:prstGeom prst="rect">
            <a:avLst/>
          </a:prstGeom>
          <a:solidFill>
            <a:srgbClr val="4A1A8C">
              <a:alpha val="40000"/>
            </a:srgbClr>
          </a:solidFill>
          <a:ln w="12700">
            <a:solidFill>
              <a:srgbClr val="4A1A8C">
                <a:alpha val="4000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429000" y="3296412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is_repeated_guest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5166360" y="3296412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0.001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3337560" y="3616452"/>
            <a:ext cx="2468880" cy="274320"/>
          </a:xfrm>
          <a:prstGeom prst="rect">
            <a:avLst/>
          </a:prstGeom>
          <a:solidFill>
            <a:srgbClr val="4A1A8C">
              <a:alpha val="40000"/>
            </a:srgbClr>
          </a:solidFill>
          <a:ln w="12700">
            <a:solidFill>
              <a:srgbClr val="4A1A8C">
                <a:alpha val="4000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429000" y="3634740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days_in_waiting_list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5166360" y="3634740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0.001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6126480" y="1164844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vs After Reduction</a:t>
            </a:r>
            <a:endParaRPr lang="en-US" sz="1400" dirty="0"/>
          </a:p>
        </p:txBody>
      </p:sp>
      <p:sp>
        <p:nvSpPr>
          <p:cNvPr id="48" name="Shape 46"/>
          <p:cNvSpPr/>
          <p:nvPr/>
        </p:nvSpPr>
        <p:spPr>
          <a:xfrm>
            <a:off x="6126480" y="1503172"/>
            <a:ext cx="1005840" cy="347472"/>
          </a:xfrm>
          <a:prstGeom prst="rect">
            <a:avLst/>
          </a:prstGeom>
          <a:solidFill>
            <a:srgbClr val="1E0A3C"/>
          </a:solidFill>
          <a:ln w="12700">
            <a:solidFill>
              <a:srgbClr val="1E0A3C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126480" y="1503172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7178040" y="1503172"/>
            <a:ext cx="914400" cy="347472"/>
          </a:xfrm>
          <a:prstGeom prst="rect">
            <a:avLst/>
          </a:prstGeom>
          <a:solidFill>
            <a:srgbClr val="1E0A3C"/>
          </a:solidFill>
          <a:ln w="12700">
            <a:solidFill>
              <a:srgbClr val="1E0A3C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178040" y="1503172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8138160" y="1503172"/>
            <a:ext cx="777240" cy="347472"/>
          </a:xfrm>
          <a:prstGeom prst="rect">
            <a:avLst/>
          </a:prstGeom>
          <a:solidFill>
            <a:srgbClr val="1E0A3C"/>
          </a:solidFill>
          <a:ln w="12700">
            <a:solidFill>
              <a:srgbClr val="1E0A3C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8138160" y="1503172"/>
            <a:ext cx="777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6126480" y="1896364"/>
            <a:ext cx="100584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126480" y="1896364"/>
            <a:ext cx="1005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7178040" y="1896364"/>
            <a:ext cx="9144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178040" y="1896364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0.8113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8138160" y="1896364"/>
            <a:ext cx="77724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8138160" y="1896364"/>
            <a:ext cx="777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0.616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6126480" y="2307844"/>
            <a:ext cx="1005840" cy="384048"/>
          </a:xfrm>
          <a:prstGeom prst="rect">
            <a:avLst/>
          </a:prstGeom>
          <a:solidFill>
            <a:srgbClr val="F5F3FF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126480" y="2307844"/>
            <a:ext cx="1005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</a:t>
            </a:r>
            <a:endParaRPr lang="en-US" sz="1100" dirty="0"/>
          </a:p>
        </p:txBody>
      </p:sp>
      <p:sp>
        <p:nvSpPr>
          <p:cNvPr id="62" name="Shape 60"/>
          <p:cNvSpPr/>
          <p:nvPr/>
        </p:nvSpPr>
        <p:spPr>
          <a:xfrm>
            <a:off x="7178040" y="2307844"/>
            <a:ext cx="914400" cy="384048"/>
          </a:xfrm>
          <a:prstGeom prst="rect">
            <a:avLst/>
          </a:prstGeom>
          <a:solidFill>
            <a:srgbClr val="F5F3FF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7178040" y="2307844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0.8102</a:t>
            </a:r>
            <a:endParaRPr lang="en-US" sz="1100" dirty="0"/>
          </a:p>
        </p:txBody>
      </p:sp>
      <p:sp>
        <p:nvSpPr>
          <p:cNvPr id="64" name="Shape 62"/>
          <p:cNvSpPr/>
          <p:nvPr/>
        </p:nvSpPr>
        <p:spPr>
          <a:xfrm>
            <a:off x="8138160" y="2307844"/>
            <a:ext cx="777240" cy="384048"/>
          </a:xfrm>
          <a:prstGeom prst="rect">
            <a:avLst/>
          </a:prstGeom>
          <a:solidFill>
            <a:srgbClr val="F5F3FF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8138160" y="2307844"/>
            <a:ext cx="777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0.614</a:t>
            </a:r>
            <a:endParaRPr lang="en-US" sz="1100" dirty="0"/>
          </a:p>
        </p:txBody>
      </p:sp>
      <p:sp>
        <p:nvSpPr>
          <p:cNvPr id="66" name="Shape 64"/>
          <p:cNvSpPr/>
          <p:nvPr/>
        </p:nvSpPr>
        <p:spPr>
          <a:xfrm>
            <a:off x="6126480" y="2829052"/>
            <a:ext cx="2788920" cy="475488"/>
          </a:xfrm>
          <a:prstGeom prst="rect">
            <a:avLst/>
          </a:prstGeom>
          <a:solidFill>
            <a:srgbClr val="EDE9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126480" y="2829052"/>
            <a:ext cx="2788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improvement → kept full feature set</a:t>
            </a:r>
            <a:endParaRPr lang="en-US" sz="1100" dirty="0"/>
          </a:p>
        </p:txBody>
      </p:sp>
      <p:sp>
        <p:nvSpPr>
          <p:cNvPr id="68" name="Shape 66"/>
          <p:cNvSpPr/>
          <p:nvPr/>
        </p:nvSpPr>
        <p:spPr>
          <a:xfrm>
            <a:off x="6126480" y="3423412"/>
            <a:ext cx="27889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6217920" y="3487420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dropping 6 low-importance features, model was retrained. Accuracy and F1 both dropped slightly — confirming the original full feature set was optimal.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3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777240"/>
          </a:xfrm>
          <a:prstGeom prst="rect">
            <a:avLst/>
          </a:prstGeom>
          <a:solidFill>
            <a:srgbClr val="1E0A3C"/>
          </a:solidFill>
          <a:ln w="12700">
            <a:solidFill>
              <a:srgbClr val="1E0A3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Hyperparameter Tuning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0" y="5033772"/>
            <a:ext cx="9144000" cy="109728"/>
          </a:xfrm>
          <a:prstGeom prst="rect">
            <a:avLst/>
          </a:prstGeom>
          <a:solidFill>
            <a:srgbClr val="4A1A8C"/>
          </a:solidFill>
          <a:ln w="12700">
            <a:solidFill>
              <a:srgbClr val="4A1A8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914400"/>
            <a:ext cx="8595360" cy="777240"/>
          </a:xfrm>
          <a:prstGeom prst="rect">
            <a:avLst/>
          </a:prstGeom>
          <a:solidFill>
            <a:srgbClr val="1E0A3C"/>
          </a:solidFill>
          <a:ln w="12700">
            <a:solidFill>
              <a:srgbClr val="4A1A8C"/>
            </a:solidFill>
            <a:prstDash val="solid"/>
          </a:ln>
          <a:effectLst>
            <a:outerShdw blurRad="127000" dist="38100" dir="8100000" algn="bl" rotWithShape="0">
              <a:srgbClr val="1E0A3C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74320" y="914400"/>
            <a:ext cx="8595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RandomizedSearchCV  ·  GradientBoostingClassifier  ·  cv=5  ·  n_iter=10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74320" y="1755648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RandomizedSearch over GridSearch? Full grid would take too long — RandomizedSearch tries 10 random combinations, balancing speed and coverage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4320" y="2286000"/>
            <a:ext cx="530352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4B5FD"/>
            </a:solidFill>
            <a:prstDash val="solid"/>
          </a:ln>
          <a:effectLst>
            <a:outerShdw blurRad="127000" dist="38100" dir="8100000" algn="bl" rotWithShape="0">
              <a:srgbClr val="1E0A3C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2286000"/>
            <a:ext cx="64008" cy="5943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350008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n_estimators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291840" y="2350008"/>
            <a:ext cx="2148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[100, 250, 500]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02920" y="2606040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of boosting stages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2971800"/>
            <a:ext cx="530352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4B5FD"/>
            </a:solidFill>
            <a:prstDash val="solid"/>
          </a:ln>
          <a:effectLst>
            <a:outerShdw blurRad="127000" dist="38100" dir="8100000" algn="bl" rotWithShape="0">
              <a:srgbClr val="1E0A3C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2971800"/>
            <a:ext cx="64008" cy="5943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3035808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max_depth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291840" y="3035808"/>
            <a:ext cx="2148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[5, 10, 20]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02920" y="3291840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depth of individual trees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74320" y="3657600"/>
            <a:ext cx="530352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4B5FD"/>
            </a:solidFill>
            <a:prstDash val="solid"/>
          </a:ln>
          <a:effectLst>
            <a:outerShdw blurRad="127000" dist="38100" dir="8100000" algn="bl" rotWithShape="0">
              <a:srgbClr val="1E0A3C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" y="3657600"/>
            <a:ext cx="64008" cy="5943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3721608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max_leaf_nodes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291840" y="3721608"/>
            <a:ext cx="2148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[100, 250, 500]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02920" y="3977640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leaf nodes per tree</a:t>
            </a:r>
            <a:endParaRPr lang="en-US" sz="1100" dirty="0"/>
          </a:p>
        </p:txBody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A914B8BB-D96A-4922-D02D-42FBE5EA2A7E}"/>
              </a:ext>
            </a:extLst>
          </p:cNvPr>
          <p:cNvSpPr/>
          <p:nvPr/>
        </p:nvSpPr>
        <p:spPr>
          <a:xfrm>
            <a:off x="5989320" y="2286000"/>
            <a:ext cx="256413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4B5FD"/>
            </a:solidFill>
            <a:prstDash val="solid"/>
          </a:ln>
          <a:effectLst>
            <a:outerShdw blurRad="127000" dist="38100" dir="8100000" algn="bl" rotWithShape="0">
              <a:srgbClr val="1E0A3C">
                <a:alpha val="18000"/>
              </a:srgbClr>
            </a:outerShdw>
          </a:effectLst>
        </p:spPr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5464CCAC-811E-4C44-CAB2-C64AB1331FBB}"/>
              </a:ext>
            </a:extLst>
          </p:cNvPr>
          <p:cNvSpPr/>
          <p:nvPr/>
        </p:nvSpPr>
        <p:spPr>
          <a:xfrm>
            <a:off x="5760720" y="1934464"/>
            <a:ext cx="3108960" cy="287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400" dirty="0"/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B1AD1FB4-2FC5-F9BF-5601-F31F6D562C1F}"/>
              </a:ext>
            </a:extLst>
          </p:cNvPr>
          <p:cNvSpPr/>
          <p:nvPr/>
        </p:nvSpPr>
        <p:spPr>
          <a:xfrm>
            <a:off x="5989320" y="2465248"/>
            <a:ext cx="2564130" cy="5686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62.4%</a:t>
            </a:r>
            <a:endParaRPr lang="en-US" sz="4600" dirty="0"/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29D0BBD2-C6A3-C26C-B935-2A42C66165A1}"/>
              </a:ext>
            </a:extLst>
          </p:cNvPr>
          <p:cNvSpPr/>
          <p:nvPr/>
        </p:nvSpPr>
        <p:spPr>
          <a:xfrm>
            <a:off x="5917425" y="3134502"/>
            <a:ext cx="2564130" cy="1895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Score</a:t>
            </a:r>
            <a:endParaRPr lang="en-US" sz="1200" dirty="0"/>
          </a:p>
        </p:txBody>
      </p:sp>
      <p:sp>
        <p:nvSpPr>
          <p:cNvPr id="30" name="Shape 28">
            <a:extLst>
              <a:ext uri="{FF2B5EF4-FFF2-40B4-BE49-F238E27FC236}">
                <a16:creationId xmlns:a16="http://schemas.microsoft.com/office/drawing/2014/main" id="{3B3BF91F-BE6F-14A5-2D16-CC7C2262E147}"/>
              </a:ext>
            </a:extLst>
          </p:cNvPr>
          <p:cNvSpPr/>
          <p:nvPr/>
        </p:nvSpPr>
        <p:spPr>
          <a:xfrm>
            <a:off x="6131771" y="3446269"/>
            <a:ext cx="2279227" cy="46739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FF7BCD2C-BF2E-B80F-D41B-DE776F8E2221}"/>
              </a:ext>
            </a:extLst>
          </p:cNvPr>
          <p:cNvSpPr/>
          <p:nvPr/>
        </p:nvSpPr>
        <p:spPr>
          <a:xfrm>
            <a:off x="5989320" y="3566160"/>
            <a:ext cx="2564130" cy="1769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params:</a:t>
            </a:r>
            <a:endParaRPr lang="en-US" sz="1200" dirty="0"/>
          </a:p>
        </p:txBody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E879DEDC-7AEB-5C09-45C2-75B27C0374F0}"/>
              </a:ext>
            </a:extLst>
          </p:cNvPr>
          <p:cNvSpPr/>
          <p:nvPr/>
        </p:nvSpPr>
        <p:spPr>
          <a:xfrm>
            <a:off x="5989320" y="3901305"/>
            <a:ext cx="2564130" cy="1769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n_estimators: 250  |  max_leaf_nodes: 100  |  max_depth: 10</a:t>
            </a:r>
            <a:endParaRPr lang="en-US" sz="1000" dirty="0"/>
          </a:p>
        </p:txBody>
      </p:sp>
      <p:sp>
        <p:nvSpPr>
          <p:cNvPr id="35" name="Shape 64">
            <a:extLst>
              <a:ext uri="{FF2B5EF4-FFF2-40B4-BE49-F238E27FC236}">
                <a16:creationId xmlns:a16="http://schemas.microsoft.com/office/drawing/2014/main" id="{8F71FB0D-4889-B574-6118-A99F0D8AC4B4}"/>
              </a:ext>
            </a:extLst>
          </p:cNvPr>
          <p:cNvSpPr/>
          <p:nvPr/>
        </p:nvSpPr>
        <p:spPr>
          <a:xfrm>
            <a:off x="5989320" y="4401670"/>
            <a:ext cx="2564130" cy="386038"/>
          </a:xfrm>
          <a:prstGeom prst="rect">
            <a:avLst/>
          </a:prstGeom>
          <a:solidFill>
            <a:srgbClr val="EDE9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6" name="Text 65">
            <a:extLst>
              <a:ext uri="{FF2B5EF4-FFF2-40B4-BE49-F238E27FC236}">
                <a16:creationId xmlns:a16="http://schemas.microsoft.com/office/drawing/2014/main" id="{86018EDA-59A3-C70B-F531-9EB76A772E43}"/>
              </a:ext>
            </a:extLst>
          </p:cNvPr>
          <p:cNvSpPr/>
          <p:nvPr/>
        </p:nvSpPr>
        <p:spPr>
          <a:xfrm>
            <a:off x="5989320" y="4395582"/>
            <a:ext cx="2564130" cy="38603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improved by +0.01 vs original</a:t>
            </a:r>
            <a:endParaRPr lang="en-US" sz="1100" dirty="0"/>
          </a:p>
        </p:txBody>
      </p:sp>
      <p:sp>
        <p:nvSpPr>
          <p:cNvPr id="38" name="Shape 26">
            <a:extLst>
              <a:ext uri="{FF2B5EF4-FFF2-40B4-BE49-F238E27FC236}">
                <a16:creationId xmlns:a16="http://schemas.microsoft.com/office/drawing/2014/main" id="{2B35BE27-09E8-DA62-5F80-F2E75AF44B1B}"/>
              </a:ext>
            </a:extLst>
          </p:cNvPr>
          <p:cNvSpPr/>
          <p:nvPr/>
        </p:nvSpPr>
        <p:spPr>
          <a:xfrm>
            <a:off x="423164" y="4395582"/>
            <a:ext cx="5029200" cy="411480"/>
          </a:xfrm>
          <a:prstGeom prst="rect">
            <a:avLst/>
          </a:prstGeom>
          <a:solidFill>
            <a:srgbClr val="EDE9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9" name="Text 27">
            <a:extLst>
              <a:ext uri="{FF2B5EF4-FFF2-40B4-BE49-F238E27FC236}">
                <a16:creationId xmlns:a16="http://schemas.microsoft.com/office/drawing/2014/main" id="{2991D2C9-C857-7DB6-5BBC-DD8573F4F0B1}"/>
              </a:ext>
            </a:extLst>
          </p:cNvPr>
          <p:cNvSpPr/>
          <p:nvPr/>
        </p:nvSpPr>
        <p:spPr>
          <a:xfrm>
            <a:off x="423164" y="4395582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⏱️  Training time: ~109 minutes  ·  Key reason for choosing RandomizedSearch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3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777240"/>
          </a:xfrm>
          <a:prstGeom prst="rect">
            <a:avLst/>
          </a:prstGeom>
          <a:solidFill>
            <a:srgbClr val="1E0A3C"/>
          </a:solidFill>
          <a:ln w="12700">
            <a:solidFill>
              <a:srgbClr val="1E0A3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&amp; Next Steps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0" y="5033772"/>
            <a:ext cx="9144000" cy="109728"/>
          </a:xfrm>
          <a:prstGeom prst="rect">
            <a:avLst/>
          </a:prstGeom>
          <a:solidFill>
            <a:srgbClr val="4A1A8C"/>
          </a:solidFill>
          <a:ln w="12700">
            <a:solidFill>
              <a:srgbClr val="4A1A8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91440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74320" y="1353312"/>
            <a:ext cx="42062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C4B5FD"/>
            </a:solidFill>
            <a:prstDash val="solid"/>
          </a:ln>
          <a:effectLst>
            <a:outerShdw blurRad="127000" dist="38100" dir="8100000" algn="bl" rotWithShape="0">
              <a:srgbClr val="1E0A3C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353312"/>
            <a:ext cx="64008" cy="8046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490472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🔀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914400" y="1417320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 misalignment after encoding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14400" y="1700784"/>
            <a:ext cx="3429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Train/test index mismatch caused NaN rows after encoding — fixed by resetting index inside the encoding function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74320" y="2267712"/>
            <a:ext cx="42062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C4B5FD"/>
            </a:solidFill>
            <a:prstDash val="solid"/>
          </a:ln>
          <a:effectLst>
            <a:outerShdw blurRad="127000" dist="38100" dir="8100000" algn="bl" rotWithShape="0">
              <a:srgbClr val="1E0A3C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2267712"/>
            <a:ext cx="64008" cy="8046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2404872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🗺️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14400" y="2331720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Unseen values in test set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14400" y="2615184"/>
            <a:ext cx="3429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 → Continent conversion had gaps — resolved by checking all unique values on the full dataset before splitting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74320" y="3182112"/>
            <a:ext cx="42062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C4B5FD"/>
            </a:solidFill>
            <a:prstDash val="solid"/>
          </a:ln>
          <a:effectLst>
            <a:outerShdw blurRad="127000" dist="38100" dir="8100000" algn="bl" rotWithShape="0">
              <a:srgbClr val="1E0A3C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3182112"/>
            <a:ext cx="64008" cy="8046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3319272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⏱️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14400" y="3246120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training times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14400" y="3529584"/>
            <a:ext cx="3429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Several cells took significant time to run, limiting the number of iterations and experiments possible within the week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754880" y="91440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754880" y="1353312"/>
            <a:ext cx="41148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C4B5FD"/>
            </a:solidFill>
            <a:prstDash val="solid"/>
          </a:ln>
          <a:effectLst>
            <a:outerShdw blurRad="127000" dist="38100" dir="8100000" algn="bl" rotWithShape="0">
              <a:srgbClr val="1E0A3C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54880" y="1353312"/>
            <a:ext cx="64008" cy="8046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92040" y="1490472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⚖️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5394960" y="1417320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 Class Imbalance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394960" y="1700784"/>
            <a:ext cx="3337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72/28 imbalance (not cancelled/cancelled) identified but not addressed due to time. Next: verify best method and apply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754880" y="2267712"/>
            <a:ext cx="41148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C4B5FD"/>
            </a:solidFill>
            <a:prstDash val="solid"/>
          </a:ln>
          <a:effectLst>
            <a:outerShdw blurRad="127000" dist="38100" dir="8100000" algn="bl" rotWithShape="0">
              <a:srgbClr val="1E0A3C">
                <a:alpha val="1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754880" y="2267712"/>
            <a:ext cx="64008" cy="8046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92040" y="2404872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🔧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5394960" y="2331720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Deeper Hyperparameter Search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394960" y="2615184"/>
            <a:ext cx="3337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RandomizedSearchCV was used for speed. A full GridSearchCV on more combinations could improve results further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754880" y="3182112"/>
            <a:ext cx="41148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C4B5FD"/>
            </a:solidFill>
            <a:prstDash val="solid"/>
          </a:ln>
          <a:effectLst>
            <a:outerShdw blurRad="127000" dist="38100" dir="8100000" algn="bl" rotWithShape="0">
              <a:srgbClr val="1E0A3C">
                <a:alpha val="1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754880" y="3182112"/>
            <a:ext cx="64008" cy="8046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92040" y="3319272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🚀</a:t>
            </a:r>
            <a:endParaRPr lang="en-US" sz="2000" dirty="0"/>
          </a:p>
        </p:txBody>
      </p:sp>
      <p:sp>
        <p:nvSpPr>
          <p:cNvPr id="36" name="Text 34"/>
          <p:cNvSpPr/>
          <p:nvPr/>
        </p:nvSpPr>
        <p:spPr>
          <a:xfrm>
            <a:off x="5394960" y="3246120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LightGBM / CatBoost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394960" y="3529584"/>
            <a:ext cx="3337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powerful gradient boosting variants not explored this week. Likely to push accuracy above 81%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0A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3657600" cy="3657600"/>
          </a:xfrm>
          <a:prstGeom prst="ellipse">
            <a:avLst/>
          </a:prstGeom>
          <a:solidFill>
            <a:srgbClr val="4A1A8C">
              <a:alpha val="35000"/>
            </a:srgbClr>
          </a:solidFill>
          <a:ln w="12700">
            <a:solidFill>
              <a:srgbClr val="4A1A8C">
                <a:alpha val="3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2560320"/>
            <a:ext cx="3200400" cy="3200400"/>
          </a:xfrm>
          <a:prstGeom prst="ellipse">
            <a:avLst/>
          </a:prstGeom>
          <a:solidFill>
            <a:srgbClr val="7C3AED">
              <a:alpha val="30000"/>
            </a:srgbClr>
          </a:solidFill>
          <a:ln w="12700">
            <a:solidFill>
              <a:srgbClr val="7C3AED">
                <a:alpha val="3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931920" y="548640"/>
            <a:ext cx="1097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600" dirty="0">
                <a:solidFill>
                  <a:srgbClr val="000000"/>
                </a:solidFill>
              </a:rPr>
              <a:t>🏨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914400" y="15544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Hotel Booking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914400" y="214884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Cancellation Predictor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914400" y="2880360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62,41% F1 Score  ·  9 models trained  ·  Gradient Boosting wins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017520" y="3401568"/>
            <a:ext cx="3108960" cy="65836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blurRad="127000" dist="38100" dir="8100000" algn="bl" rotWithShape="0">
              <a:srgbClr val="1E0A3C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017520" y="3401568"/>
            <a:ext cx="3108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Gabriela Cascione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IronHack Data Analytics Bootcamp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42519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 —  Questions welcome!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814</Words>
  <Application>Microsoft Office PowerPoint</Application>
  <PresentationFormat>Apresentação na tela (16:9)</PresentationFormat>
  <Paragraphs>206</Paragraphs>
  <Slides>10</Slides>
  <Notes>10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Gabriela Silva Cascione</cp:lastModifiedBy>
  <cp:revision>13</cp:revision>
  <dcterms:created xsi:type="dcterms:W3CDTF">2026-05-14T15:00:34Z</dcterms:created>
  <dcterms:modified xsi:type="dcterms:W3CDTF">2026-05-15T05:11:55Z</dcterms:modified>
</cp:coreProperties>
</file>